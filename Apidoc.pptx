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6" r:id="rId9"/>
    <p:sldId id="267" r:id="rId10"/>
    <p:sldId id="268" r:id="rId11"/>
    <p:sldId id="269" r:id="rId12"/>
    <p:sldId id="263" r:id="rId13"/>
    <p:sldId id="270" r:id="rId14"/>
    <p:sldId id="271" r:id="rId15"/>
    <p:sldId id="273" r:id="rId16"/>
    <p:sldId id="272" r:id="rId17"/>
    <p:sldId id="265" r:id="rId18"/>
    <p:sldId id="274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EFA00-52F3-4DD5-A720-67E69AFB4787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B071A-64B4-407A-987E-8EA847CE1B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67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5D009-0525-4B6F-BACD-0D1BA82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E355A8-1396-4BA6-A0EF-D2791B4F7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B4B748-2FFA-44EB-80F9-4817EAA9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A52B1-6DE5-449B-ABA6-710E0E2BB5A3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7EE52-C30C-431D-878B-250E48DA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6CB7B4-5E40-4DCD-92C2-D629F5BE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500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930EA-6990-4341-9A6D-8F5A21CC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FB662-CA3B-48FA-91D4-5C64B116E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36E8F6-6234-41A6-8A16-315B62C9A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96C2-5411-4D0C-9863-8E248A7945F8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CC242E-F207-4589-A896-AD1EF6A2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6311E1-68A2-454E-B790-6E521A7A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0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3FB16-5624-4394-809B-F3DA53C08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0D85AE-D901-49F6-BD89-95B84DD27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FFD24C-3558-4323-93EE-50E447CE7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09A01-EABF-4918-BE43-11A5C97A0B6D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8ABF2B-039C-4B4D-B673-08F95E946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BB465C-743D-45E2-B4DF-CC39AE92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895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C4215-559A-4C5E-8D73-29A83E28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AA315F-CE86-4FB8-BA15-681FE116C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4975A2-8980-4415-8236-4DAE0DB66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5D321F-9B43-4614-85B1-28EF11A8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1DD06-EAE6-4F31-90C9-64CE63602802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3F4CE-2EB1-410C-9D6A-071D5CD2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433BD6-3D31-4F8B-8A8F-F96AD187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57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5286F7-D2CA-4C53-B4D0-42115BFC1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FF1D4C-D792-4A35-A100-5F939B580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89D45B-0B80-494F-A235-B05DF5E8E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DB2C33-ECCB-4EBD-80BF-DC2BA0C39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C463580-90FF-4E66-859F-B11AD89ED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7EC0E38-8C72-42CA-A502-1301382EF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DC12-8531-4886-83E4-42F37C3D0082}" type="datetime1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9730B50-4656-4827-8893-81245B489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E2FD52-8223-4AB3-A59A-979D3BCBE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99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89F51F-ACB4-413F-BAEC-5CEFED5F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EAB942-191F-46AC-AF4C-7A49E039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700E-2CCD-4DC5-B884-EEA068191EA5}" type="datetime1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C7D9BB-3376-4E65-8507-C5F482FF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07C99D-A559-4328-A950-E34F0554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97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660F69E-66AE-4F37-AE00-979AB7F1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9BF57-4411-40B7-A4E0-9C7A81D5FE95}" type="datetime1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00DC3F-F11F-4970-85D5-C1F14B28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E5D717-9EF9-4D60-BB3F-50FB24828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8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B32B2-77C0-424F-8869-C40BCA5F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6FF4B4-C003-4E9D-8913-8DF1C8FA3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CB8083-0948-4B1E-A5F2-BB42E49A0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D48C1B-4043-447A-9071-2D0CBAF4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E6F4F-09D1-4447-92C2-059E3A4899D6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A087B5-F103-450E-A96B-C1B2AF33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22A89D-C4B9-44C0-99BF-A037FF66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75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8C567-21F5-4DC4-9DA0-40D44C955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FD46586-37C2-44E2-8460-23671E94F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78B39D-1FC2-4A6D-BE30-3FAC45E22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4F6328-6B8C-4FA4-BA1A-63369F90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06E9-33E0-4156-81B3-76FB77371083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33B9EE-3E32-4A66-9937-138D944D2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B47A2C-A638-41C9-B9F4-4EA672D9B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65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82A6F-DE3D-4434-9B9F-3A12D61A2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954891-0D22-472F-8F55-E263FA962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91135-E903-434B-B7E7-5158432A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6A0DC-74C5-438E-B599-2B8DF267D2CE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BC5418-CA2C-4EC0-819E-A174D300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556239-B710-496B-A245-B026E44C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73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CFFD4AF-35C7-4AB1-A2E7-1FCA6543B4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34B5F3-8F44-466A-9FB8-9738F61D3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E14280-8832-4868-9B59-3383F8020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94C8-6A52-4DD7-B5E8-029CFA6B7013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C86D8-2BA0-4CBA-B94C-A6BB410A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D92C0E-9B92-4CD8-9F85-328DAC7B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4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861AF-3F61-4083-9A6D-1B04E1F42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D39E37-35DF-4A69-B9E1-AAC6C0FCA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35DED9-66F5-4FC9-BBE8-815C94685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9D210-D738-4743-8BCA-1F5B4DDAB24F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C7E411-0073-49EC-BB6F-B10B4A5C6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3CA20D-C24A-4313-AF51-C93134648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EFA7B-942E-4217-AB5D-D003FCC750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8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2D491D-0A71-44C5-A31E-463996268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7630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Сравнительный анализ реализации CLI </a:t>
            </a:r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для пользователя без знаний Python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BB1B9F-EA30-446A-8CCF-755B2C60D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4761" y="2535230"/>
            <a:ext cx="7902478" cy="1655762"/>
          </a:xfrm>
        </p:spPr>
        <p:txBody>
          <a:bodyPr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vs DEEPSEEK:</a:t>
            </a:r>
            <a:r>
              <a:rPr lang="en-US" dirty="0"/>
              <a:t> APIDOC MANAGER</a:t>
            </a:r>
          </a:p>
          <a:p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E7BC7D48-7D56-44DC-B408-5E3132D5E395}"/>
              </a:ext>
            </a:extLst>
          </p:cNvPr>
          <p:cNvSpPr txBox="1">
            <a:spLocks/>
          </p:cNvSpPr>
          <p:nvPr/>
        </p:nvSpPr>
        <p:spPr>
          <a:xfrm>
            <a:off x="1424248" y="1370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APIDOC: </a:t>
            </a:r>
            <a:r>
              <a:rPr lang="ru-RU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</a:t>
            </a:r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ru-RU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or</a:t>
            </a:r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ru-RU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die</a:t>
            </a:r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Какой </a:t>
            </a:r>
            <a:r>
              <a:rPr lang="ru-RU" i="1" u="sng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</a:t>
            </a:r>
            <a:r>
              <a:rPr lang="ru-RU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выберешь ты?</a:t>
            </a:r>
            <a:endParaRPr lang="en-US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ru-RU" i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71F310E-116E-4215-AA22-914938FA2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7748" y="3042307"/>
            <a:ext cx="6477000" cy="304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6C5DD9-A693-48DC-A2AC-5960429EB138}"/>
              </a:ext>
            </a:extLst>
          </p:cNvPr>
          <p:cNvSpPr txBox="1"/>
          <p:nvPr/>
        </p:nvSpPr>
        <p:spPr>
          <a:xfrm>
            <a:off x="2843647" y="6079072"/>
            <a:ext cx="63052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accent2">
                    <a:lumMod val="20000"/>
                    <a:lumOff val="80000"/>
                  </a:schemeClr>
                </a:solidFill>
                <a:latin typeface="system-ui"/>
              </a:rPr>
              <a:t>Я выберу т</a:t>
            </a:r>
            <a:r>
              <a:rPr lang="ru-RU" sz="24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от, где </a:t>
            </a:r>
            <a:r>
              <a:rPr lang="ru-RU" sz="2400" b="0" i="0" dirty="0" err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апидок</a:t>
            </a:r>
            <a:r>
              <a:rPr lang="ru-RU" sz="24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 — а не </a:t>
            </a:r>
            <a:r>
              <a:rPr lang="ru-RU" sz="2400" b="0" i="0" dirty="0" err="1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апи</a:t>
            </a:r>
            <a:r>
              <a:rPr lang="ru-RU" sz="2400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-шок</a:t>
            </a:r>
            <a:r>
              <a:rPr lang="ru-RU" b="0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.</a:t>
            </a:r>
            <a:endParaRPr lang="ru-R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9F69-1B09-48DC-8135-FE22EB60CA0D}"/>
              </a:ext>
            </a:extLst>
          </p:cNvPr>
          <p:cNvSpPr txBox="1"/>
          <p:nvPr/>
        </p:nvSpPr>
        <p:spPr>
          <a:xfrm>
            <a:off x="0" y="-10416"/>
            <a:ext cx="404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Подготовила студентка группы 1378 </a:t>
            </a:r>
          </a:p>
          <a:p>
            <a:r>
              <a:rPr lang="ru-RU" dirty="0"/>
              <a:t>Логинова Анастасия</a:t>
            </a:r>
          </a:p>
        </p:txBody>
      </p:sp>
    </p:spTree>
    <p:extLst>
      <p:ext uri="{BB962C8B-B14F-4D97-AF65-F5344CB8AC3E}">
        <p14:creationId xmlns:p14="http://schemas.microsoft.com/office/powerpoint/2010/main" val="1161534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62" y="365125"/>
            <a:ext cx="10921538" cy="1325563"/>
          </a:xfrm>
        </p:spPr>
        <p:txBody>
          <a:bodyPr>
            <a:normAutofit/>
          </a:bodyPr>
          <a:lstStyle/>
          <a:p>
            <a:r>
              <a:rPr lang="ru-RU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Задача</a:t>
            </a:r>
            <a:r>
              <a:rPr lang="ru-RU" b="1" i="0" dirty="0">
                <a:solidFill>
                  <a:srgbClr val="1D1D1F"/>
                </a:solidFill>
                <a:effectLst/>
                <a:latin typeface="system-ui"/>
              </a:rPr>
              <a:t> </a:t>
            </a:r>
            <a:r>
              <a:rPr lang="ru-RU" b="1" dirty="0">
                <a:solidFill>
                  <a:srgbClr val="1D1D1F"/>
                </a:solidFill>
                <a:latin typeface="system-ui"/>
              </a:rPr>
              <a:t>– </a:t>
            </a:r>
            <a:r>
              <a:rPr lang="ru-RU" b="1" i="0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system-ui"/>
              </a:rPr>
              <a:t>контекст</a:t>
            </a:r>
            <a:br>
              <a:rPr lang="ru-RU" b="1" i="0" dirty="0">
                <a:solidFill>
                  <a:srgbClr val="1D1D1F"/>
                </a:solidFill>
                <a:effectLst/>
                <a:latin typeface="system-ui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61A7E-D6AA-41E4-B4AD-D1A9E552A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49" y="1465003"/>
            <a:ext cx="11655829" cy="4827731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Что мы</a:t>
            </a:r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просили у нейросетей:</a:t>
            </a:r>
          </a:p>
          <a:p>
            <a:pPr marL="0" indent="0" algn="just">
              <a:buNone/>
            </a:pPr>
            <a:r>
              <a:rPr lang="ru-RU" sz="1800" dirty="0"/>
              <a:t>«Создай ТЗ и реализацию </a:t>
            </a:r>
            <a:r>
              <a:rPr lang="en-US" sz="1800" dirty="0"/>
              <a:t>CLI-</a:t>
            </a:r>
            <a:r>
              <a:rPr lang="ru-RU" sz="1800" dirty="0"/>
              <a:t>утилиты </a:t>
            </a:r>
            <a:r>
              <a:rPr lang="en-US" sz="1800" dirty="0" err="1"/>
              <a:t>APIDoc</a:t>
            </a:r>
            <a:r>
              <a:rPr lang="en-US" sz="1800" dirty="0"/>
              <a:t> Manager </a:t>
            </a:r>
            <a:r>
              <a:rPr lang="ru-RU" sz="1800" dirty="0"/>
              <a:t>для работы с </a:t>
            </a:r>
            <a:r>
              <a:rPr lang="en-US" sz="1800" dirty="0" err="1"/>
              <a:t>OpenAPI</a:t>
            </a:r>
            <a:r>
              <a:rPr lang="en-US" sz="1800" dirty="0"/>
              <a:t>-</a:t>
            </a:r>
            <a:r>
              <a:rPr lang="ru-RU" sz="1800" dirty="0"/>
              <a:t>спецификациями»</a:t>
            </a:r>
          </a:p>
          <a:p>
            <a:pPr marL="0" indent="0" algn="just">
              <a:buNone/>
            </a:pPr>
            <a:r>
              <a:rPr lang="ru-RU" sz="1800" dirty="0"/>
              <a:t>«Разработай проект по ТЗ и сделай реализацию </a:t>
            </a:r>
            <a:r>
              <a:rPr lang="en-US" sz="1800" dirty="0"/>
              <a:t>CLI-</a:t>
            </a:r>
            <a:r>
              <a:rPr lang="ru-RU" sz="1800" dirty="0"/>
              <a:t>утилиты </a:t>
            </a:r>
            <a:r>
              <a:rPr lang="en-US" sz="1800" dirty="0" err="1"/>
              <a:t>APIDoc</a:t>
            </a:r>
            <a:r>
              <a:rPr lang="en-US" sz="1800" dirty="0"/>
              <a:t> Manager </a:t>
            </a:r>
            <a:r>
              <a:rPr lang="ru-RU" sz="1800" dirty="0"/>
              <a:t>для работы с </a:t>
            </a:r>
            <a:r>
              <a:rPr lang="en-US" sz="1800" dirty="0" err="1"/>
              <a:t>OpenAPI</a:t>
            </a:r>
            <a:r>
              <a:rPr lang="en-US" sz="1800" dirty="0"/>
              <a:t>-</a:t>
            </a:r>
            <a:r>
              <a:rPr lang="ru-RU" sz="1800" dirty="0"/>
              <a:t>спецификациями»</a:t>
            </a:r>
          </a:p>
          <a:p>
            <a:pPr marL="0" indent="0" algn="just">
              <a:buNone/>
            </a:pPr>
            <a:r>
              <a:rPr lang="ru-RU" sz="18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Ключевые требования:</a:t>
            </a:r>
          </a:p>
          <a:p>
            <a:pPr algn="just"/>
            <a:r>
              <a:rPr lang="ru-RU" sz="1800" dirty="0"/>
              <a:t>8+ команд (</a:t>
            </a:r>
            <a:r>
              <a:rPr lang="en-US" sz="1800" dirty="0"/>
              <a:t>generate, validate, diff, mock, </a:t>
            </a:r>
            <a:r>
              <a:rPr lang="en-US" sz="1800" dirty="0" err="1"/>
              <a:t>testgen</a:t>
            </a:r>
            <a:r>
              <a:rPr lang="en-US" sz="1800" dirty="0"/>
              <a:t>, publish, convert, server)</a:t>
            </a:r>
          </a:p>
          <a:p>
            <a:pPr algn="just"/>
            <a:r>
              <a:rPr lang="en-US" sz="1800" dirty="0"/>
              <a:t>REST API </a:t>
            </a:r>
            <a:r>
              <a:rPr lang="ru-RU" sz="1800" dirty="0"/>
              <a:t>сервер на </a:t>
            </a:r>
            <a:r>
              <a:rPr lang="en-US" sz="1800" dirty="0" err="1"/>
              <a:t>FastAPI</a:t>
            </a:r>
            <a:endParaRPr lang="en-US" sz="1800" dirty="0"/>
          </a:p>
          <a:p>
            <a:pPr algn="just"/>
            <a:r>
              <a:rPr lang="ru-RU" sz="1800" dirty="0"/>
              <a:t>Интеграция с 3+ внешними сервисами</a:t>
            </a:r>
          </a:p>
          <a:p>
            <a:pPr algn="just"/>
            <a:r>
              <a:rPr lang="ru-RU" sz="1800" dirty="0"/>
              <a:t>Работа без глубоких знаний </a:t>
            </a:r>
            <a:r>
              <a:rPr lang="en-US" sz="1800" dirty="0"/>
              <a:t>Python</a:t>
            </a:r>
          </a:p>
          <a:p>
            <a:pPr marL="0" indent="0" algn="just">
              <a:buNone/>
            </a:pPr>
            <a:r>
              <a:rPr lang="ru-RU" sz="18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Наименование продукта: </a:t>
            </a:r>
            <a:endParaRPr lang="en-US" sz="18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0" indent="0" algn="just">
              <a:buNone/>
            </a:pPr>
            <a:r>
              <a:rPr lang="ru-RU" sz="1800" dirty="0" err="1"/>
              <a:t>apidoc</a:t>
            </a:r>
            <a:r>
              <a:rPr lang="ru-RU" sz="1800" dirty="0"/>
              <a:t> (</a:t>
            </a:r>
            <a:r>
              <a:rPr lang="ru-RU" sz="1800" dirty="0" err="1"/>
              <a:t>APIDoc</a:t>
            </a:r>
            <a:r>
              <a:rPr lang="ru-RU" sz="1800" dirty="0"/>
              <a:t> Manager CLI)</a:t>
            </a:r>
          </a:p>
          <a:p>
            <a:pPr marL="0" indent="0" algn="just">
              <a:buNone/>
            </a:pPr>
            <a:r>
              <a:rPr lang="ru-RU" sz="18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Назначение: </a:t>
            </a:r>
            <a:endParaRPr lang="en-US" sz="18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0" indent="0" algn="just">
              <a:buNone/>
            </a:pPr>
            <a:r>
              <a:rPr lang="ru-RU" sz="1800" dirty="0"/>
              <a:t>Автоматизация полного жизненного цикла работы с </a:t>
            </a:r>
            <a:r>
              <a:rPr lang="ru-RU" sz="1800" dirty="0" err="1"/>
              <a:t>OpenAPI</a:t>
            </a:r>
            <a:r>
              <a:rPr lang="ru-RU" sz="1800" dirty="0"/>
              <a:t> спецификациями: от генерации и валидации до </a:t>
            </a:r>
            <a:r>
              <a:rPr lang="ru-RU" sz="1800" dirty="0" err="1"/>
              <a:t>версионирования</a:t>
            </a:r>
            <a:r>
              <a:rPr lang="ru-RU" sz="1800" dirty="0"/>
              <a:t>, тестирования и публикации.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74AEEB-4F9A-4317-9522-1FC541AF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58577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2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935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Результаты в цифрах</a:t>
            </a:r>
            <a:endParaRPr lang="ru-R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61A7E-D6AA-41E4-B4AD-D1A9E552A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389" y="1779904"/>
            <a:ext cx="4741333" cy="78292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Claude: 69 </a:t>
            </a:r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файлов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A48BB7A-1916-4D47-AEA5-A8E17A3F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16438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3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354AFD8F-2841-4C20-BEA5-907C2B70D051}"/>
              </a:ext>
            </a:extLst>
          </p:cNvPr>
          <p:cNvSpPr txBox="1">
            <a:spLocks/>
          </p:cNvSpPr>
          <p:nvPr/>
        </p:nvSpPr>
        <p:spPr>
          <a:xfrm>
            <a:off x="838200" y="4249449"/>
            <a:ext cx="5779193" cy="78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: </a:t>
            </a:r>
            <a:r>
              <a:rPr lang="ru-RU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118 файлов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7348D2-01A2-4A27-8CD6-1956B76D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9" y="4920785"/>
            <a:ext cx="11103302" cy="112513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725B29E-0470-487E-A3B1-E7694AAA7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89" y="2652048"/>
            <a:ext cx="11103302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9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92" y="136525"/>
            <a:ext cx="11543607" cy="1325563"/>
          </a:xfrm>
        </p:spPr>
        <p:txBody>
          <a:bodyPr>
            <a:normAutofit fontScale="90000"/>
          </a:bodyPr>
          <a:lstStyle/>
          <a:p>
            <a:br>
              <a:rPr lang="en-US" b="1" i="0" dirty="0">
                <a:solidFill>
                  <a:srgbClr val="1D1D1F"/>
                </a:solidFill>
                <a:effectLst/>
                <a:latin typeface="system-ui"/>
              </a:rPr>
            </a:b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Claude</a:t>
            </a:r>
            <a:br>
              <a:rPr lang="ru-RU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</a:br>
            <a:endParaRPr lang="ru-R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61A7E-D6AA-41E4-B4AD-D1A9E552A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7044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/>
              <a:t>Плюсы для пользователя:</a:t>
            </a:r>
          </a:p>
          <a:p>
            <a:r>
              <a:rPr lang="ru-RU" dirty="0"/>
              <a:t>Код структурирован, файлы названы корректно</a:t>
            </a:r>
          </a:p>
          <a:p>
            <a:r>
              <a:rPr lang="ru-RU" dirty="0"/>
              <a:t>Чёткая структура папок — просто скопировал</a:t>
            </a:r>
          </a:p>
          <a:p>
            <a:r>
              <a:rPr lang="ru-RU" dirty="0"/>
              <a:t>После небольших правок — запускается без ошибок</a:t>
            </a:r>
          </a:p>
          <a:p>
            <a:r>
              <a:rPr lang="ru-RU" dirty="0"/>
              <a:t>Логичные комментарии в коде</a:t>
            </a:r>
          </a:p>
          <a:p>
            <a:r>
              <a:rPr lang="ru-RU" dirty="0"/>
              <a:t>Меньше зависимостей — проще установить</a:t>
            </a:r>
          </a:p>
          <a:p>
            <a:pPr marL="0" indent="0">
              <a:buNone/>
            </a:pPr>
            <a:r>
              <a:rPr lang="ru-RU" b="1" dirty="0"/>
              <a:t>Минусы:</a:t>
            </a:r>
          </a:p>
          <a:p>
            <a:r>
              <a:rPr lang="ru-RU" dirty="0"/>
              <a:t>Меньше «продвинутых» фич «из коробки»</a:t>
            </a:r>
          </a:p>
          <a:p>
            <a:r>
              <a:rPr lang="ru-RU" dirty="0"/>
              <a:t>Архитектура проще — сложнее масштабировать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03BA35-140E-49C2-9D60-0C619A1D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36525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4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4F505B-5F11-49B8-A021-A45E394D68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64080"/>
          <a:stretch/>
        </p:blipFill>
        <p:spPr>
          <a:xfrm>
            <a:off x="7801880" y="294717"/>
            <a:ext cx="3293840" cy="626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5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2" y="0"/>
            <a:ext cx="11817927" cy="1325563"/>
          </a:xfrm>
        </p:spPr>
        <p:txBody>
          <a:bodyPr/>
          <a:lstStyle/>
          <a:p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DeepSeek</a:t>
            </a:r>
            <a:endParaRPr lang="ru-RU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861A7E-D6AA-41E4-B4AD-D1A9E552A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553"/>
            <a:ext cx="673469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Плюсы для пользователя:</a:t>
            </a:r>
          </a:p>
          <a:p>
            <a:r>
              <a:rPr lang="ru-RU" sz="2200" dirty="0"/>
              <a:t>Более проработанная архитектура (118 файлов!)</a:t>
            </a:r>
          </a:p>
          <a:p>
            <a:r>
              <a:rPr lang="ru-RU" sz="2200" dirty="0"/>
              <a:t>Встроенные механизмы безопасности</a:t>
            </a:r>
          </a:p>
          <a:p>
            <a:r>
              <a:rPr lang="ru-RU" sz="2200" dirty="0"/>
              <a:t>Готовые метрики и логирование</a:t>
            </a:r>
          </a:p>
          <a:p>
            <a:r>
              <a:rPr lang="ru-RU" sz="2200" dirty="0"/>
              <a:t>Более полное тестовое покрытие</a:t>
            </a:r>
          </a:p>
          <a:p>
            <a:r>
              <a:rPr lang="ru-RU" sz="2200" dirty="0"/>
              <a:t>Система плагинов «на вырост»</a:t>
            </a:r>
          </a:p>
          <a:p>
            <a:pPr marL="0" indent="0">
              <a:buNone/>
            </a:pPr>
            <a:r>
              <a:rPr lang="ru-RU" sz="2200" dirty="0"/>
              <a:t>Минусы для пользователя:</a:t>
            </a:r>
          </a:p>
          <a:p>
            <a:r>
              <a:rPr lang="ru-RU" sz="2200" dirty="0"/>
              <a:t>Нет архива — файлы в диалоге, надо вручную собирать</a:t>
            </a:r>
          </a:p>
          <a:p>
            <a:r>
              <a:rPr lang="ru-RU" sz="2200" dirty="0"/>
              <a:t>Имена файлов требуют переименования</a:t>
            </a:r>
          </a:p>
          <a:p>
            <a:r>
              <a:rPr lang="ru-RU" sz="2200" dirty="0"/>
              <a:t>Потребовалось много фиксов перед первым запуском</a:t>
            </a:r>
          </a:p>
          <a:p>
            <a:r>
              <a:rPr lang="ru-RU" sz="2200" dirty="0"/>
              <a:t>Больше времени на «доводку до ума»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2B86EC-2929-4E2D-A96C-EF4E9B6B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116378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5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045EDAB-B89E-4F64-848C-1E1338E7F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274" y="116378"/>
            <a:ext cx="2014768" cy="653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2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621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Реализованные команды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F908EA1-079F-4B34-969C-C370F6199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7295" y="1496464"/>
            <a:ext cx="6435436" cy="256622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9CBC8E-6458-4401-BEAC-A9FA16E0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95905" y="140709"/>
            <a:ext cx="2696095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6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6B0C7737-291E-4AED-B616-ECF515E8C7AE}"/>
              </a:ext>
            </a:extLst>
          </p:cNvPr>
          <p:cNvSpPr txBox="1">
            <a:spLocks/>
          </p:cNvSpPr>
          <p:nvPr/>
        </p:nvSpPr>
        <p:spPr>
          <a:xfrm>
            <a:off x="746760" y="1754238"/>
            <a:ext cx="2902527" cy="78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endParaRPr lang="ru-R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4F50CBF-6F7A-4B9F-BDFF-859C6F864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" y="4078424"/>
            <a:ext cx="6861257" cy="2586955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0CC8BD54-190E-4AF9-B946-279BD8C574B6}"/>
              </a:ext>
            </a:extLst>
          </p:cNvPr>
          <p:cNvSpPr txBox="1">
            <a:spLocks/>
          </p:cNvSpPr>
          <p:nvPr/>
        </p:nvSpPr>
        <p:spPr>
          <a:xfrm>
            <a:off x="8470669" y="4907376"/>
            <a:ext cx="2642062" cy="782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endParaRPr lang="ru-R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78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65131" cy="1325563"/>
          </a:xfrm>
        </p:spPr>
        <p:txBody>
          <a:bodyPr/>
          <a:lstStyle/>
          <a:p>
            <a:r>
              <a:rPr lang="ru-RU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Запуск сервера в </a:t>
            </a: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– </a:t>
            </a:r>
            <a:r>
              <a:rPr lang="en-US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apidoc</a:t>
            </a:r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server start</a:t>
            </a:r>
            <a:endParaRPr lang="ru-RU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60F5037-77A9-4DBB-B869-9D640BFD0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9498" y="1825625"/>
            <a:ext cx="7793003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15094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7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52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endParaRPr lang="ru-RU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957621C-0D68-4498-B964-16A3794FE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6657"/>
            <a:ext cx="10515600" cy="328927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246495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8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08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endParaRPr lang="ru-RU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CB4C0A8-7441-43F2-AE70-7CF686E2A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1123"/>
            <a:ext cx="10515600" cy="2935754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91016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9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47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endParaRPr lang="ru-RU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4BE9749-136D-495D-9FCA-D33B88F2E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639" y="1825625"/>
            <a:ext cx="8954721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15094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10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8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endParaRPr lang="ru-RU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860DB38-7614-49AA-B7D2-5B16AE24CA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911" y="1825625"/>
            <a:ext cx="10250177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230188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11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9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A2AD2-7F27-4640-AB2E-42BCF211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7436" cy="1325563"/>
          </a:xfrm>
        </p:spPr>
        <p:txBody>
          <a:bodyPr/>
          <a:lstStyle/>
          <a:p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Запуск сервера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в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 –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apidoc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server start</a:t>
            </a:r>
            <a:endParaRPr lang="ru-RU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9C021F4-33EA-4EF0-A953-0799D1783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1184" y="1630382"/>
            <a:ext cx="8069631" cy="451205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1AA61A-298A-4D6A-8E5C-0B4466FA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12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991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endParaRPr lang="ru-RU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13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5E9F0A72-4053-4BD2-BD45-4B6206E32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8622"/>
            <a:ext cx="10515600" cy="3565343"/>
          </a:xfrm>
        </p:spPr>
      </p:pic>
    </p:spTree>
    <p:extLst>
      <p:ext uri="{BB962C8B-B14F-4D97-AF65-F5344CB8AC3E}">
        <p14:creationId xmlns:p14="http://schemas.microsoft.com/office/powerpoint/2010/main" val="185149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endParaRPr lang="ru-RU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C3D923C-51F6-45BD-BF59-687F09A23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447" y="1662858"/>
            <a:ext cx="11118544" cy="194460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14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2D06A0-5761-4347-8F50-219FB4543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47" y="4117827"/>
            <a:ext cx="11118544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02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endParaRPr lang="ru-RU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2914073-9B78-41BA-B016-49EE0C8D49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258" y="1418534"/>
            <a:ext cx="11270956" cy="2815815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15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196CBF-1FE3-4CF4-AB94-B319570F5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8" y="4588661"/>
            <a:ext cx="11270957" cy="17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08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endParaRPr lang="ru-RU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09CBADF-4E50-414C-9BAC-1E427BBA1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5612"/>
            <a:ext cx="11007436" cy="618563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16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805833-6970-4612-ABC6-D5318689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2915560"/>
            <a:ext cx="11007436" cy="116222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DAF2E56-8161-443E-A8B2-38B834C27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40" y="4281573"/>
            <a:ext cx="11149026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1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123A5-8F07-4E72-8F83-D321D09E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Выв</a:t>
            </a:r>
            <a:r>
              <a:rPr lang="ru-RU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5051AE-007D-467C-99A2-DFC74E9B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930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Этот эксперимент показал главное: идеальный код не равен идеальному продукту, если продукт нельзя запустить без боли.</a:t>
            </a: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ru-RU" sz="1800" dirty="0"/>
              <a:t>Если вы не владеете Python на уровне </a:t>
            </a:r>
            <a:r>
              <a:rPr lang="ru-RU" sz="1800" dirty="0" err="1"/>
              <a:t>Senior</a:t>
            </a:r>
            <a:r>
              <a:rPr lang="ru-RU" sz="1800" dirty="0"/>
              <a:t>-разработчика</a:t>
            </a:r>
            <a:r>
              <a:rPr lang="en-US" sz="1800" dirty="0"/>
              <a:t> (</a:t>
            </a:r>
            <a:r>
              <a:rPr lang="ru-RU" sz="1800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DeepSeek</a:t>
            </a:r>
            <a:r>
              <a:rPr lang="ru-RU" sz="18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 выиграл в объеме</a:t>
            </a:r>
            <a:r>
              <a:rPr lang="ru-RU" sz="1800" dirty="0"/>
              <a:t>, но </a:t>
            </a:r>
            <a:r>
              <a:rPr lang="ru-RU" sz="1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r>
              <a:rPr lang="ru-RU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выиграл в юзабилити</a:t>
            </a:r>
            <a:r>
              <a:rPr lang="ru-RU" sz="1800" dirty="0"/>
              <a:t>.</a:t>
            </a:r>
            <a:r>
              <a:rPr lang="en-US" sz="1800" dirty="0"/>
              <a:t>)</a:t>
            </a:r>
            <a:r>
              <a:rPr lang="ru-RU" sz="1800" dirty="0"/>
              <a:t>:</a:t>
            </a:r>
          </a:p>
          <a:p>
            <a:pPr algn="just"/>
            <a:r>
              <a:rPr lang="ru-RU" sz="18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DeepSeek</a:t>
            </a:r>
            <a:r>
              <a:rPr lang="ru-RU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даст вам архитектуру мечты, но вы рискуете застрять на этапе настройки окружения и ручной сборки файлов.</a:t>
            </a:r>
          </a:p>
          <a:p>
            <a:pPr algn="just"/>
            <a:r>
              <a:rPr lang="ru-RU" sz="1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Claude</a:t>
            </a:r>
            <a:r>
              <a:rPr lang="ru-RU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даст вам рабочий скелет, который можно быстро «одеть» в нужный функционал.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F4C8CB0-6D02-4CDF-8C24-AD6459C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182562"/>
            <a:ext cx="2743200" cy="365125"/>
          </a:xfrm>
        </p:spPr>
        <p:txBody>
          <a:bodyPr/>
          <a:lstStyle/>
          <a:p>
            <a:fld id="{B5BEFA7B-942E-4217-AB5D-D003FCC7502C}" type="slidenum">
              <a:rPr lang="ru-RU" sz="660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17</a:t>
            </a:fld>
            <a:endParaRPr lang="ru-RU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254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245EF-0535-4471-9FC9-10F19E378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СПАСИБО ЗА ВНИМАНИЕ!!!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04425DEB-902D-48ED-8A4E-3C152347E33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85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Any Programmer Ignores Documentation Only Crying</a:t>
            </a:r>
            <a:endParaRPr lang="ru-RU" dirty="0"/>
          </a:p>
          <a:p>
            <a:r>
              <a:rPr lang="ru-RU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Любой программист игнорирует документацию — только плача</a:t>
            </a:r>
          </a:p>
        </p:txBody>
      </p:sp>
    </p:spTree>
    <p:extLst>
      <p:ext uri="{BB962C8B-B14F-4D97-AF65-F5344CB8AC3E}">
        <p14:creationId xmlns:p14="http://schemas.microsoft.com/office/powerpoint/2010/main" val="30771503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417</Words>
  <Application>Microsoft Office PowerPoint</Application>
  <PresentationFormat>Широкоэкранный</PresentationFormat>
  <Paragraphs>83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system-ui</vt:lpstr>
      <vt:lpstr>Тема Office</vt:lpstr>
      <vt:lpstr>Сравнительный анализ реализации CLI для пользователя без знаний Python </vt:lpstr>
      <vt:lpstr>Задача – контекст </vt:lpstr>
      <vt:lpstr>Результаты в цифрах</vt:lpstr>
      <vt:lpstr> Claude </vt:lpstr>
      <vt:lpstr>DeepSeek</vt:lpstr>
      <vt:lpstr>Реализованные команды</vt:lpstr>
      <vt:lpstr>Запуск сервера в DeepSeek – apidoc server start</vt:lpstr>
      <vt:lpstr>DeepSeek</vt:lpstr>
      <vt:lpstr>DeepSeek</vt:lpstr>
      <vt:lpstr>DeepSeek</vt:lpstr>
      <vt:lpstr>DeepSeek</vt:lpstr>
      <vt:lpstr>Запуск сервера в Claude – apidoc server start</vt:lpstr>
      <vt:lpstr>Claude</vt:lpstr>
      <vt:lpstr>Claude</vt:lpstr>
      <vt:lpstr>Claude</vt:lpstr>
      <vt:lpstr>Claude</vt:lpstr>
      <vt:lpstr>Выводы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реализации CLI для пользователя без знаний Python </dc:title>
  <dc:creator>Логинова</dc:creator>
  <cp:lastModifiedBy>Логинова</cp:lastModifiedBy>
  <cp:revision>14</cp:revision>
  <dcterms:created xsi:type="dcterms:W3CDTF">2026-05-12T08:19:33Z</dcterms:created>
  <dcterms:modified xsi:type="dcterms:W3CDTF">2026-05-12T13:27:03Z</dcterms:modified>
</cp:coreProperties>
</file>